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59" r:id="rId17"/>
  </p:sldIdLst>
  <p:sldSz cx="12192000" cy="6858000"/>
  <p:notesSz cx="6858000" cy="9144000"/>
  <p:embeddedFontLst>
    <p:embeddedFont>
      <p:font typeface="Cooper Black" panose="0208090404030B020404" pitchFamily="18" charset="0"/>
      <p:regular r:id="rId19"/>
    </p:embeddedFont>
    <p:embeddedFont>
      <p:font typeface="Lato Black" panose="020F0502020204030203" pitchFamily="34" charset="0"/>
      <p:bold r:id="rId20"/>
      <p:boldItalic r:id="rId21"/>
    </p:embeddedFont>
    <p:embeddedFont>
      <p:font typeface="Libre Baskerville" panose="02000000000000000000" pitchFamily="2" charset="0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ruthasai052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amruthasaiyarragodal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229064" y="2610546"/>
            <a:ext cx="789816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chemeClr val="tx1"/>
                </a:solidFill>
                <a:latin typeface="Cooper Black" panose="0208090404030B020404" pitchFamily="18" charset="0"/>
                <a:ea typeface="Calibri"/>
                <a:cs typeface="Calibri"/>
                <a:sym typeface="Calibri"/>
              </a:rPr>
              <a:t>HEALTH   INSURANCE    CLAIMS :</a:t>
            </a:r>
          </a:p>
          <a:p>
            <a:pPr lvl="0" algn="ctr"/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Empowering Smarter Healthcare Decisions with Data Science</a:t>
            </a:r>
            <a:r>
              <a:rPr lang="en-GB" sz="32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A02927-A79A-2434-5FA0-0F869091DFB9}"/>
              </a:ext>
            </a:extLst>
          </p:cNvPr>
          <p:cNvSpPr txBox="1"/>
          <p:nvPr/>
        </p:nvSpPr>
        <p:spPr>
          <a:xfrm>
            <a:off x="550606" y="5476568"/>
            <a:ext cx="27751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oper Black" panose="0208090404030B020404" pitchFamily="18" charset="0"/>
              </a:rPr>
              <a:t>Presented by :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Amrutha Sai Yarragodala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29540" y="805779"/>
            <a:ext cx="11932920" cy="5770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</a:t>
            </a:r>
          </a:p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am Yarragodala Amrutha Sai recent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graduate with a Bachelor of Pharmacy from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Annamacharya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Pharmacy</a:t>
            </a:r>
          </a:p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endParaRPr lang="en-GB"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50000"/>
              </a:lnSpc>
              <a:buClr>
                <a:schemeClr val="dk1"/>
              </a:buClr>
              <a:buSzPts val="1800"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</a:t>
            </a:r>
          </a:p>
          <a:p>
            <a:pPr>
              <a:lnSpc>
                <a:spcPct val="150000"/>
              </a:lnSpc>
            </a:pPr>
            <a:r>
              <a:rPr lang="en-GB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is more than prescriptions—it’s data, patterns, and decisions that save lives."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Using technology and analytics to uncover hidden truths in patient care and insurance</a:t>
            </a: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“I’m not from a typical coding background. But with IT skills lets me dig deeper, understand hidden patterns, and improve healthcare for everyone. 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your </a:t>
            </a:r>
            <a:r>
              <a:rPr lang="en-IN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IN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profile </a:t>
            </a:r>
            <a:r>
              <a:rPr lang="en-IN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urls</a:t>
            </a: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3"/>
              </a:rPr>
              <a:t>https://github.com/amruthasai0524</a:t>
            </a:r>
            <a:r>
              <a:rPr lang="en-IN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---- </a:t>
            </a:r>
            <a:r>
              <a:rPr lang="en-IN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</a:t>
            </a:r>
            <a:r>
              <a:rPr lang="en-IN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IN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url</a:t>
            </a:r>
            <a:endParaRPr lang="en-IN" sz="1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www.linkedin.com/in/amruthasaiyarragodala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------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endParaRPr lang="en-IN" sz="1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244776" y="15747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2888689" cy="11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208472" y="855406"/>
            <a:ext cx="11098625" cy="586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228600" lvl="0" indent="-130810">
              <a:lnSpc>
                <a:spcPct val="170000"/>
              </a:lnSpc>
              <a:buSzPct val="100000"/>
              <a:buNone/>
            </a:pP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790" indent="0">
              <a:lnSpc>
                <a:spcPct val="170000"/>
              </a:lnSpc>
              <a:buSzPct val="100000"/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/>
              <a:t>"</a:t>
            </a:r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costs vary dramatically across customers, but </a:t>
            </a:r>
            <a:r>
              <a:rPr lang="en-GB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don't clearly understand which factors drive these differences. </a:t>
            </a:r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</a:t>
            </a:r>
            <a:r>
              <a:rPr lang="en-GB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insurance claims data to identify the key lifestyle and demographic factors that impact healthcare charges, enabling smarter pricing and healthier decisions.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790" indent="0">
              <a:buSzPct val="10000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 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5,338 rows, 7 columns</a:t>
            </a:r>
          </a:p>
          <a:p>
            <a:pPr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age, sex, BMI, children, smoker status, region, charges</a:t>
            </a:r>
          </a:p>
          <a:p>
            <a:pPr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wide demographic, lifestyle, and regional coverage</a:t>
            </a:r>
          </a:p>
          <a:p>
            <a:pPr>
              <a:lnSpc>
                <a:spcPct val="170000"/>
              </a:lnSpc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</a:p>
          <a:p>
            <a:pPr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data quality: no missing values, outliers removed, duplicates cleaned</a:t>
            </a:r>
          </a:p>
          <a:p>
            <a:pPr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summary: histograms for age, BMI, charges; bar charts for smoker, sex, region</a:t>
            </a:r>
          </a:p>
          <a:p>
            <a:pPr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distributions and patterns in how each variable affects insurance cost</a:t>
            </a:r>
          </a:p>
          <a:p>
            <a:pPr marL="228600" lvl="0" indent="-130810">
              <a:lnSpc>
                <a:spcPct val="170000"/>
              </a:lnSpc>
              <a:buSzPct val="100000"/>
              <a:buNone/>
            </a:pPr>
            <a:endParaRPr lang="en-US" sz="6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130810">
              <a:lnSpc>
                <a:spcPct val="170000"/>
              </a:lnSpc>
              <a:buSzPct val="100000"/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85CAC7-D0D8-B52A-367D-8FF1CBD0C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972222"/>
              </p:ext>
            </p:extLst>
          </p:nvPr>
        </p:nvGraphicFramePr>
        <p:xfrm>
          <a:off x="457199" y="289249"/>
          <a:ext cx="11262048" cy="6008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864">
                  <a:extLst>
                    <a:ext uri="{9D8B030D-6E8A-4147-A177-3AD203B41FA5}">
                      <a16:colId xmlns:a16="http://schemas.microsoft.com/office/drawing/2014/main" val="2673795030"/>
                    </a:ext>
                  </a:extLst>
                </a:gridCol>
                <a:gridCol w="1608864">
                  <a:extLst>
                    <a:ext uri="{9D8B030D-6E8A-4147-A177-3AD203B41FA5}">
                      <a16:colId xmlns:a16="http://schemas.microsoft.com/office/drawing/2014/main" val="1219651137"/>
                    </a:ext>
                  </a:extLst>
                </a:gridCol>
                <a:gridCol w="1608864">
                  <a:extLst>
                    <a:ext uri="{9D8B030D-6E8A-4147-A177-3AD203B41FA5}">
                      <a16:colId xmlns:a16="http://schemas.microsoft.com/office/drawing/2014/main" val="3887040565"/>
                    </a:ext>
                  </a:extLst>
                </a:gridCol>
                <a:gridCol w="1608864">
                  <a:extLst>
                    <a:ext uri="{9D8B030D-6E8A-4147-A177-3AD203B41FA5}">
                      <a16:colId xmlns:a16="http://schemas.microsoft.com/office/drawing/2014/main" val="1719213967"/>
                    </a:ext>
                  </a:extLst>
                </a:gridCol>
                <a:gridCol w="1608864">
                  <a:extLst>
                    <a:ext uri="{9D8B030D-6E8A-4147-A177-3AD203B41FA5}">
                      <a16:colId xmlns:a16="http://schemas.microsoft.com/office/drawing/2014/main" val="1569324321"/>
                    </a:ext>
                  </a:extLst>
                </a:gridCol>
                <a:gridCol w="1608864">
                  <a:extLst>
                    <a:ext uri="{9D8B030D-6E8A-4147-A177-3AD203B41FA5}">
                      <a16:colId xmlns:a16="http://schemas.microsoft.com/office/drawing/2014/main" val="3633739478"/>
                    </a:ext>
                  </a:extLst>
                </a:gridCol>
                <a:gridCol w="1608864">
                  <a:extLst>
                    <a:ext uri="{9D8B030D-6E8A-4147-A177-3AD203B41FA5}">
                      <a16:colId xmlns:a16="http://schemas.microsoft.com/office/drawing/2014/main" val="3646439075"/>
                    </a:ext>
                  </a:extLst>
                </a:gridCol>
              </a:tblGrid>
              <a:tr h="83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>
                          <a:effectLst/>
                        </a:rPr>
                        <a:t>SNo</a:t>
                      </a:r>
                      <a:endParaRPr lang="en-IN" b="1" dirty="0">
                        <a:effectLst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Column Name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Missing Values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Data Type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Data Quality Issues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Cleaning/Preprocessing Required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Importance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1007338"/>
                  </a:ext>
                </a:extLst>
              </a:tr>
              <a:tr h="10742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age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Numerical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No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No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Major demographic risk factor for healthcare costs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067190285"/>
                  </a:ext>
                </a:extLst>
              </a:tr>
              <a:tr h="83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sex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Categorical (Text)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Inconsistent case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Convert to lowercase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Key demographic feature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890126929"/>
                  </a:ext>
                </a:extLst>
              </a:tr>
              <a:tr h="604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bmi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Numerical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Possible outliers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Outlier detection and removal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Clinical indicator of health risk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409846001"/>
                  </a:ext>
                </a:extLst>
              </a:tr>
              <a:tr h="604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children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Numerical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No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No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Family size indicator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67350846"/>
                  </a:ext>
                </a:extLst>
              </a:tr>
              <a:tr h="604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smoker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Categorical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Inconsistent case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Convert to lowercase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Top lifestyle risk factor for costs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82962773"/>
                  </a:ext>
                </a:extLst>
              </a:tr>
              <a:tr h="6042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6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region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Categorical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Inconsistent case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Convert to lowercase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Geographic information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518722279"/>
                  </a:ext>
                </a:extLst>
              </a:tr>
              <a:tr h="8392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7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charges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Numerical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Has extreme outliers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Outlier detection using boxplot/IQR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Target variable for prediction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012384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878709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0905EE-3E71-9661-0B31-9BBF5D53BF2D}"/>
              </a:ext>
            </a:extLst>
          </p:cNvPr>
          <p:cNvSpPr txBox="1"/>
          <p:nvPr/>
        </p:nvSpPr>
        <p:spPr>
          <a:xfrm>
            <a:off x="344129" y="425470"/>
            <a:ext cx="10982631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Outliers:</a:t>
            </a:r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In health insurance data, outliers may occur in "charges" (e.g., extremely high costs due to rare medical events).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Unusual age or BMI values (e.g., extremely young/old ages or implausible BMI) can act as outliers.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Outliers can misrepresent healthcare cost patterns if not checked and adjusted.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They are detected using statistical techniques such as boxplots, Z-score, or IQR, and are either removed or standardized.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5E7C87-C296-48C9-AEFD-7B58997AB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55" y="3231549"/>
            <a:ext cx="3972232" cy="3348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5212DE-093D-5902-A0AB-AE451EBB1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212" y="3231549"/>
            <a:ext cx="3854245" cy="351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3796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25F92E-FDD4-1408-4AA4-4CFE1CE5D3BD}"/>
              </a:ext>
            </a:extLst>
          </p:cNvPr>
          <p:cNvSpPr txBox="1"/>
          <p:nvPr/>
        </p:nvSpPr>
        <p:spPr>
          <a:xfrm>
            <a:off x="235474" y="204078"/>
            <a:ext cx="11139948" cy="5341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Handling Missing Data :</a:t>
            </a:r>
          </a:p>
          <a:p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with the most missing values: BMI, region, or smoking status due to incomplete patient records.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missing portions in age or number of children may also exist.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include treating missing values as “Unknown,” applying imputation techniques (mean/median for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mode for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categoricals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or excluding them from analysis.</a:t>
            </a:r>
          </a:p>
          <a:p>
            <a:pPr>
              <a:lnSpc>
                <a:spcPct val="150000"/>
              </a:lnSpc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Duplicates :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 are repeated entries that can inflate counts and distort analysis of insurance claims</a:t>
            </a:r>
            <a:r>
              <a:rPr lang="en-GB" sz="1600" i="1" dirty="0"/>
              <a:t>.</a:t>
            </a:r>
            <a:endParaRPr lang="en-GB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rows in key fields (age, sex, BMI, smoker, region, charges); none found after cleaning.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dataset remains clean, accurate, and non-redundant for fair analysis.</a:t>
            </a:r>
          </a:p>
          <a:p>
            <a:pPr>
              <a:lnSpc>
                <a:spcPct val="150000"/>
              </a:lnSpc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50143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815F13-ACD6-E905-1FF4-30AB17B27412}"/>
              </a:ext>
            </a:extLst>
          </p:cNvPr>
          <p:cNvSpPr txBox="1"/>
          <p:nvPr/>
        </p:nvSpPr>
        <p:spPr>
          <a:xfrm>
            <a:off x="490806" y="35887"/>
            <a:ext cx="2924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7E6A6-AD5C-9890-2CCC-BE16C649ABA9}"/>
              </a:ext>
            </a:extLst>
          </p:cNvPr>
          <p:cNvSpPr txBox="1"/>
          <p:nvPr/>
        </p:nvSpPr>
        <p:spPr>
          <a:xfrm>
            <a:off x="490806" y="458321"/>
            <a:ext cx="9041364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customers have moderate charges; a few face very high costs.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Smoking is less common but is linked to outlier charges.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values are skewed, indicating many at risk for higher costs.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7CF8DC-8A72-5896-A1ED-614A4A8AF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33" y="2185593"/>
            <a:ext cx="6188357" cy="2862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36F655-9A07-5E46-3FEC-B645B0675134}"/>
              </a:ext>
            </a:extLst>
          </p:cNvPr>
          <p:cNvSpPr txBox="1"/>
          <p:nvPr/>
        </p:nvSpPr>
        <p:spPr>
          <a:xfrm>
            <a:off x="346521" y="1695806"/>
            <a:ext cx="6287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Univariate analysis – Numerical [“</a:t>
            </a:r>
            <a:r>
              <a:rPr lang="en-GB" dirty="0" err="1">
                <a:solidFill>
                  <a:srgbClr val="7030A0"/>
                </a:solidFill>
              </a:rPr>
              <a:t>Histogram,kdeplot</a:t>
            </a:r>
            <a:r>
              <a:rPr lang="en-GB" dirty="0">
                <a:solidFill>
                  <a:srgbClr val="7030A0"/>
                </a:solidFill>
              </a:rPr>
              <a:t>, violin </a:t>
            </a:r>
            <a:r>
              <a:rPr lang="en-GB" dirty="0" err="1">
                <a:solidFill>
                  <a:srgbClr val="7030A0"/>
                </a:solidFill>
              </a:rPr>
              <a:t>plot,box</a:t>
            </a:r>
            <a:r>
              <a:rPr lang="en-GB" dirty="0">
                <a:solidFill>
                  <a:srgbClr val="7030A0"/>
                </a:solidFill>
              </a:rPr>
              <a:t> plot  “]</a:t>
            </a:r>
            <a:endParaRPr lang="en-IN" dirty="0">
              <a:solidFill>
                <a:srgbClr val="7030A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12C6DA-1429-C040-5E77-DB32DAD18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809" y="2347622"/>
            <a:ext cx="2808514" cy="21627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3855A0-FEF2-3140-DE7B-9C199E027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7651" y="4381500"/>
            <a:ext cx="2772988" cy="23017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21CA60-5A7C-3FC3-132C-AA2F03EAB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849" y="35887"/>
            <a:ext cx="2289918" cy="21894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346DC6-857A-8A90-FFCB-19B9FF9F2108}"/>
              </a:ext>
            </a:extLst>
          </p:cNvPr>
          <p:cNvSpPr txBox="1"/>
          <p:nvPr/>
        </p:nvSpPr>
        <p:spPr>
          <a:xfrm>
            <a:off x="77601" y="5230128"/>
            <a:ext cx="871745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⚡The insurance dataset mainly covers younger adults, but includes some customers up to 60+ years.</a:t>
            </a:r>
          </a:p>
          <a:p>
            <a:r>
              <a:rPr lang="en-GB" dirty="0"/>
              <a:t>⚡Many customers have BMI above 30 (category: overweight to obese), which might raise insurance costs.</a:t>
            </a:r>
          </a:p>
          <a:p>
            <a:r>
              <a:rPr lang="en-GB" dirty="0"/>
              <a:t>⚡ Large families are uncommon among insured customers.</a:t>
            </a:r>
          </a:p>
          <a:p>
            <a:r>
              <a:rPr lang="en-GB" dirty="0"/>
              <a:t>⚡A few cases show exceptionally high healthcare spending.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709DB-491A-1DCE-1BD4-57C5A37C6634}"/>
              </a:ext>
            </a:extLst>
          </p:cNvPr>
          <p:cNvSpPr txBox="1"/>
          <p:nvPr/>
        </p:nvSpPr>
        <p:spPr>
          <a:xfrm>
            <a:off x="9534616" y="2647803"/>
            <a:ext cx="21637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✨ Insight: The KDE plot shows the probability density of insurance charges, with the peak showing where most charges are </a:t>
            </a:r>
            <a:r>
              <a:rPr lang="en-GB" dirty="0" err="1"/>
              <a:t>concentrated.Non</a:t>
            </a:r>
            <a:r>
              <a:rPr lang="en-GB"/>
              <a:t> smokers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32413-33EA-5BD8-2DC2-2312F45A8E87}"/>
              </a:ext>
            </a:extLst>
          </p:cNvPr>
          <p:cNvSpPr txBox="1"/>
          <p:nvPr/>
        </p:nvSpPr>
        <p:spPr>
          <a:xfrm>
            <a:off x="7352873" y="629896"/>
            <a:ext cx="20303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median and the whole range of charges for smokers is far higher than for non-smokers.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14274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718DEA-6740-21AA-37FF-E8D2D8420826}"/>
              </a:ext>
            </a:extLst>
          </p:cNvPr>
          <p:cNvSpPr txBox="1"/>
          <p:nvPr/>
        </p:nvSpPr>
        <p:spPr>
          <a:xfrm>
            <a:off x="184280" y="6833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Categorical [“</a:t>
            </a:r>
            <a:r>
              <a:rPr lang="en-GB" sz="1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bar,countplot</a:t>
            </a:r>
            <a:r>
              <a:rPr lang="en-GB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pie”]</a:t>
            </a:r>
            <a:endParaRPr lang="en-IN" sz="1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A3B5BE-B28D-E797-DA03-8D1C21FAA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63" y="693299"/>
            <a:ext cx="4911759" cy="2813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D9BFF2-E207-C5EB-119E-D951594E7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322" y="842675"/>
            <a:ext cx="3472358" cy="2730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D8B916-37A6-339B-920B-DABE45DE3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63" y="3813796"/>
            <a:ext cx="4298900" cy="28450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E01B77-23BE-9D13-2790-8CD066ABEE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493" y="3722999"/>
            <a:ext cx="3472358" cy="3106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CD8C15-9CDF-F269-B993-78EE1BDE09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7882" y="2099840"/>
            <a:ext cx="2707878" cy="265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9514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9C3F6A-872F-622F-7AB8-08938F07375A}"/>
              </a:ext>
            </a:extLst>
          </p:cNvPr>
          <p:cNvSpPr txBox="1"/>
          <p:nvPr/>
        </p:nvSpPr>
        <p:spPr>
          <a:xfrm>
            <a:off x="139958" y="317241"/>
            <a:ext cx="2304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CE3353-5E1D-B143-7470-03D2855DCDEE}"/>
              </a:ext>
            </a:extLst>
          </p:cNvPr>
          <p:cNvSpPr txBox="1"/>
          <p:nvPr/>
        </p:nvSpPr>
        <p:spPr>
          <a:xfrm>
            <a:off x="139958" y="731559"/>
            <a:ext cx="8612155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explores connections between two variables to spot trends</a:t>
            </a:r>
            <a:r>
              <a:rPr lang="en-GB" i="1" dirty="0"/>
              <a:t>.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vs. Numerical: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Scatterplot: Age vs. Charges (how age impacts cost</a:t>
            </a:r>
            <a:r>
              <a:rPr lang="en-GB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7F5978-F654-1759-1550-354E35006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450" y="0"/>
            <a:ext cx="4059418" cy="2926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BDCDDB-DCD9-F1ED-0D56-D52966E69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822" y="3015527"/>
            <a:ext cx="5481736" cy="36257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4CBA7D-8B49-4107-60DD-211E8F17F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059" y="2397968"/>
            <a:ext cx="4742975" cy="347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0543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737B3D-F4A9-680D-02A7-18962BE6B512}"/>
              </a:ext>
            </a:extLst>
          </p:cNvPr>
          <p:cNvSpPr txBox="1"/>
          <p:nvPr/>
        </p:nvSpPr>
        <p:spPr>
          <a:xfrm>
            <a:off x="186612" y="158620"/>
            <a:ext cx="3813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vs. Categorical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3CED08-C1D1-BC5F-B4D9-49FF2CAE0920}"/>
              </a:ext>
            </a:extLst>
          </p:cNvPr>
          <p:cNvSpPr txBox="1"/>
          <p:nvPr/>
        </p:nvSpPr>
        <p:spPr>
          <a:xfrm>
            <a:off x="1184987" y="802433"/>
            <a:ext cx="4666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regions have more smokers.</a:t>
            </a:r>
          </a:p>
          <a:p>
            <a:br>
              <a:rPr lang="en-GB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B994F5-6B01-62B7-0930-A881417D7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0716"/>
            <a:ext cx="5906324" cy="3810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1DD098-45A5-8C30-34F7-87070D39D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324" y="1525205"/>
            <a:ext cx="6063503" cy="403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3251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149C92-4AD7-67EE-7481-5A73602C758C}"/>
              </a:ext>
            </a:extLst>
          </p:cNvPr>
          <p:cNvSpPr txBox="1"/>
          <p:nvPr/>
        </p:nvSpPr>
        <p:spPr>
          <a:xfrm>
            <a:off x="419877" y="233265"/>
            <a:ext cx="8369560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Numerical vs Categorical</a:t>
            </a:r>
            <a:r>
              <a:rPr lang="en-IN" b="1" dirty="0"/>
              <a:t>: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Distribution of charges for smokers vs. non-smokers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B74400-C8BB-A3CF-9492-239231A4A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579" y="1414499"/>
            <a:ext cx="4765421" cy="4262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95FA1B-B8FC-93DF-C3CC-022808E8C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70" y="1125406"/>
            <a:ext cx="4048691" cy="27934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F3CE00-CEAC-9656-CF17-13E31D2F7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140" y="1095095"/>
            <a:ext cx="3127084" cy="26549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3EB9879-2A15-1076-214C-C728A24F0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10" y="4432748"/>
            <a:ext cx="3452497" cy="23229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CE1F3F-B39E-3021-3FD0-0D7ECDA5D550}"/>
              </a:ext>
            </a:extLst>
          </p:cNvPr>
          <p:cNvSpPr txBox="1"/>
          <p:nvPr/>
        </p:nvSpPr>
        <p:spPr>
          <a:xfrm>
            <a:off x="4254361" y="3657431"/>
            <a:ext cx="34072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💡Insight: The violin plot compares distributions (including medians and outliers) between smokers and non-smokers. Smokers, on average, have much higher charges, and their distribution is wider.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8A6A7-A398-E1D0-0AD6-00980F5954B4}"/>
              </a:ext>
            </a:extLst>
          </p:cNvPr>
          <p:cNvSpPr txBox="1"/>
          <p:nvPr/>
        </p:nvSpPr>
        <p:spPr>
          <a:xfrm>
            <a:off x="73480" y="3909528"/>
            <a:ext cx="4180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median and the whole range of charges for smokers is far higher than for non-smokers.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47936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BEA03E-A4FE-1FE7-2D0A-D8DEA45976E6}"/>
              </a:ext>
            </a:extLst>
          </p:cNvPr>
          <p:cNvSpPr txBox="1"/>
          <p:nvPr/>
        </p:nvSpPr>
        <p:spPr>
          <a:xfrm>
            <a:off x="202942" y="20533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68E0B-473B-708E-EFF3-5B9D9C252546}"/>
              </a:ext>
            </a:extLst>
          </p:cNvPr>
          <p:cNvSpPr txBox="1"/>
          <p:nvPr/>
        </p:nvSpPr>
        <p:spPr>
          <a:xfrm>
            <a:off x="296248" y="581972"/>
            <a:ext cx="92209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explores relationships among three or more variables simultaneously.</a:t>
            </a:r>
            <a:endParaRPr lang="en-GB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dirty="0"/>
              <a:t>⚡Older and heavier people tend to pay higher charges. Number of children has little effect on cost.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347270-30D4-CC5D-4786-B79CD64C3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61" y="1181691"/>
            <a:ext cx="10086391" cy="567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1307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D9C4C8-AEEA-25D8-57E7-820BDCB95789}"/>
              </a:ext>
            </a:extLst>
          </p:cNvPr>
          <p:cNvSpPr txBox="1"/>
          <p:nvPr/>
        </p:nvSpPr>
        <p:spPr>
          <a:xfrm>
            <a:off x="895739" y="718457"/>
            <a:ext cx="38162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17BDA-5C35-6668-54D2-022F1284F589}"/>
              </a:ext>
            </a:extLst>
          </p:cNvPr>
          <p:cNvSpPr txBox="1"/>
          <p:nvPr/>
        </p:nvSpPr>
        <p:spPr>
          <a:xfrm>
            <a:off x="597159" y="1821984"/>
            <a:ext cx="11594841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costs among older, overweight, smoking individuals.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Non-smokers and healthy BMI people  at lower charges.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Smoking status is a major factor driving insurance costs. Extra body weight contributes to higher healthcare expenses,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Smoking is the top risk factor: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Overweight and obese individuals pay more;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matters, but lifestyle matters more: Costs rise with age, but healthy habits have bigger effects than just being older.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Region, gender, children: These have only minor impacts. Costs remain similar across all regions, boys and girls, and all family sizes.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22710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4A4C56-6BF4-F2B9-CD53-45E9A1F9EFE3}"/>
              </a:ext>
            </a:extLst>
          </p:cNvPr>
          <p:cNvSpPr txBox="1"/>
          <p:nvPr/>
        </p:nvSpPr>
        <p:spPr>
          <a:xfrm>
            <a:off x="1140279" y="2137445"/>
            <a:ext cx="9911442" cy="337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costs are shaped mostly by lifestyle choices, not by where you live or your gender.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(not smoking, healthy weight) is the best way to control your health spending.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like these empower insurance companies and individuals to make smarter, fairer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Lifestyle Factors Drive Costs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Smoking/obesity are primary cost drivers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Predictive Model Works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78% accuracy enables pricing optimization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Regional Variations Exist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Opportunity for geographic pricing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EB2AF0-E7E1-B549-5688-1E66A6723BF5}"/>
              </a:ext>
            </a:extLst>
          </p:cNvPr>
          <p:cNvSpPr txBox="1"/>
          <p:nvPr/>
        </p:nvSpPr>
        <p:spPr>
          <a:xfrm>
            <a:off x="1140279" y="1348478"/>
            <a:ext cx="60975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6405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0275B5-FD12-97DA-E787-63D3CAC8D9FB}"/>
              </a:ext>
            </a:extLst>
          </p:cNvPr>
          <p:cNvSpPr txBox="1"/>
          <p:nvPr/>
        </p:nvSpPr>
        <p:spPr>
          <a:xfrm>
            <a:off x="882521" y="922958"/>
            <a:ext cx="609755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Future Scope</a:t>
            </a: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</a:t>
            </a:r>
            <a:endParaRPr lang="en-IN" b="0" dirty="0"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DD1BC-E167-3FB5-16DC-689F71B95140}"/>
              </a:ext>
            </a:extLst>
          </p:cNvPr>
          <p:cNvSpPr txBox="1"/>
          <p:nvPr/>
        </p:nvSpPr>
        <p:spPr>
          <a:xfrm>
            <a:off x="1017037" y="1940767"/>
            <a:ext cx="969450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more variables: Include health history, exercise, eating habits, or more clinical data for deeper risk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Build machine learning models to predict risk and charges, enabling personalized premium and health guidance.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dashboards: Interactive reports for insurance companies and healthcare providers to respond instantly to risk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for wider populations: Apply the analysis to larger or international datasets for broader, global recommendations</a:t>
            </a:r>
            <a:r>
              <a:rPr lang="en-GB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matters—smoke less, stay fit, pay less. This project shows data isn’t just numbers: it’s a guide to living cheaper and healthier. Soon, real-time analytics and broader data will make health insurance even smarter and fairer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896320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1231</Words>
  <Application>Microsoft Office PowerPoint</Application>
  <PresentationFormat>Widescreen</PresentationFormat>
  <Paragraphs>170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Calibri</vt:lpstr>
      <vt:lpstr>Wingdings</vt:lpstr>
      <vt:lpstr>Arial</vt:lpstr>
      <vt:lpstr>Libre Baskerville</vt:lpstr>
      <vt:lpstr>Lato Black</vt:lpstr>
      <vt:lpstr>Times New Roman</vt:lpstr>
      <vt:lpstr>Cooper Black</vt:lpstr>
      <vt:lpstr>Office Theme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Amrutha Sai Yarragodala</cp:lastModifiedBy>
  <cp:revision>18</cp:revision>
  <dcterms:created xsi:type="dcterms:W3CDTF">2021-02-16T05:19:01Z</dcterms:created>
  <dcterms:modified xsi:type="dcterms:W3CDTF">2025-11-08T07:32:37Z</dcterms:modified>
</cp:coreProperties>
</file>